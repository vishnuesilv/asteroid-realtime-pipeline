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5" r:id="rId9"/>
    <p:sldId id="270" r:id="rId10"/>
    <p:sldId id="271" r:id="rId11"/>
    <p:sldId id="272" r:id="rId12"/>
    <p:sldId id="273" r:id="rId13"/>
    <p:sldId id="274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7F2B2-9D4A-4244-A877-048F33D727D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109E76-F3AE-423C-91C2-D329E5C1F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765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109E76-F3AE-423C-91C2-D329E5C1F8B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73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79FAC-CC2C-4E53-B392-B1D8C6090E7B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BFC5-B406-41F2-9698-8AA4052BA6B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7893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79FAC-CC2C-4E53-B392-B1D8C6090E7B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BFC5-B406-41F2-9698-8AA4052BA6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914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79FAC-CC2C-4E53-B392-B1D8C6090E7B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BFC5-B406-41F2-9698-8AA4052BA6B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243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79FAC-CC2C-4E53-B392-B1D8C6090E7B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BFC5-B406-41F2-9698-8AA4052BA6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169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79FAC-CC2C-4E53-B392-B1D8C6090E7B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BFC5-B406-41F2-9698-8AA4052BA6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337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79FAC-CC2C-4E53-B392-B1D8C6090E7B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BFC5-B406-41F2-9698-8AA4052BA6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077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79FAC-CC2C-4E53-B392-B1D8C6090E7B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BFC5-B406-41F2-9698-8AA4052BA6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89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7C79FAC-CC2C-4E53-B392-B1D8C6090E7B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F6BFC5-B406-41F2-9698-8AA4052BA6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52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79FAC-CC2C-4E53-B392-B1D8C6090E7B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BFC5-B406-41F2-9698-8AA4052BA6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066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79FAC-CC2C-4E53-B392-B1D8C6090E7B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BFC5-B406-41F2-9698-8AA4052BA6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678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79FAC-CC2C-4E53-B392-B1D8C6090E7B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BFC5-B406-41F2-9698-8AA4052BA6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987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7C79FAC-CC2C-4E53-B392-B1D8C6090E7B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9F6BFC5-B406-41F2-9698-8AA4052BA6B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1211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FBB1B-72E3-FC38-3EBA-73F05D9868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Real-Time Asteroid Detection &amp; Analytics Pipeline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70EAD7-AD8C-FEBC-C5E3-4E9C717CB2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Using NASA NEO API, Kafka, Spark Structured Streaming, HDFS, </a:t>
            </a:r>
            <a:r>
              <a:rPr lang="en-IN" dirty="0" err="1"/>
              <a:t>InfluxDB</a:t>
            </a:r>
            <a:r>
              <a:rPr lang="en-IN" dirty="0"/>
              <a:t>, Grafana</a:t>
            </a:r>
          </a:p>
          <a:p>
            <a:r>
              <a:rPr lang="en-IN" b="1" dirty="0"/>
              <a:t>Name:</a:t>
            </a:r>
            <a:r>
              <a:rPr lang="en-IN" dirty="0"/>
              <a:t> Vishnu Muralikrishnan</a:t>
            </a:r>
            <a:br>
              <a:rPr lang="en-IN" dirty="0"/>
            </a:br>
            <a:r>
              <a:rPr lang="en-IN" b="1" dirty="0"/>
              <a:t>Program:</a:t>
            </a:r>
            <a:r>
              <a:rPr lang="en-IN" dirty="0"/>
              <a:t> ESILV – MCS Computer science and data science</a:t>
            </a:r>
            <a:br>
              <a:rPr lang="en-IN" dirty="0"/>
            </a:br>
            <a:r>
              <a:rPr lang="en-IN" b="1" dirty="0"/>
              <a:t>Year:</a:t>
            </a:r>
            <a:r>
              <a:rPr lang="en-IN" dirty="0"/>
              <a:t> 2026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9141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35DBF-1115-303F-9799-DDDB9D316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0E53A2-CD67-E8FF-2CB3-4272D66E15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626308"/>
            <a:ext cx="10440296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Near-Earth Objects (NEOs) pose potential risks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NASA provides asteroid data, but: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is batch-oriented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real-time analytics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real-time, fault-tolerant data pipeline to ingest, process, store, and visualize asteroid metrics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100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2BD3E-21A1-4E14-CBD4-C13C12C44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High-Level Architecture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47EC3-FD6E-D8F0-B69F-3A7FBCB9B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Pipeline Flow:</a:t>
            </a:r>
            <a:endParaRPr lang="en-IN" dirty="0"/>
          </a:p>
          <a:p>
            <a:r>
              <a:rPr lang="en-IN" dirty="0"/>
              <a:t>NASA NEO API → Kafka Producer</a:t>
            </a:r>
          </a:p>
          <a:p>
            <a:r>
              <a:rPr lang="en-IN" dirty="0"/>
              <a:t>Kafka → Spark Structured Streaming</a:t>
            </a:r>
          </a:p>
          <a:p>
            <a:r>
              <a:rPr lang="en-IN" dirty="0"/>
              <a:t>Spark → HDFS (raw data)</a:t>
            </a:r>
          </a:p>
          <a:p>
            <a:r>
              <a:rPr lang="en-IN" dirty="0"/>
              <a:t>Spark → </a:t>
            </a:r>
            <a:r>
              <a:rPr lang="en-IN" dirty="0" err="1"/>
              <a:t>InfluxDB</a:t>
            </a:r>
            <a:r>
              <a:rPr lang="en-IN" dirty="0"/>
              <a:t> (aggregated metrics)</a:t>
            </a:r>
          </a:p>
          <a:p>
            <a:r>
              <a:rPr lang="en-IN" dirty="0"/>
              <a:t>Grafana → Real-time dashboards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EDF7C7-E491-5DB4-038B-15781F1B8F7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7083836" y="1737360"/>
            <a:ext cx="2847340" cy="3792220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2066564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FCBAE-6CC5-B325-BADF-812552B10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302D7E4-D509-E569-7721-44EBDCF8F5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Kafka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real-time ingestion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Apache Spark Structured Streaming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processing &amp; aggregation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HDFS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durable raw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InfluxDB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time-series metrics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Grafana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736946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C5034-25E7-0C9B-3603-978BE0E06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Design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094C8-94CC-98AC-FA4B-5B2360F81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Why Kafka?</a:t>
            </a:r>
          </a:p>
          <a:p>
            <a:r>
              <a:rPr lang="en-IN" dirty="0"/>
              <a:t>Decouples ingestion from processing</a:t>
            </a:r>
          </a:p>
          <a:p>
            <a:r>
              <a:rPr lang="en-IN" dirty="0"/>
              <a:t>Handles bursts from NASA API</a:t>
            </a:r>
          </a:p>
          <a:p>
            <a:r>
              <a:rPr lang="en-IN" dirty="0"/>
              <a:t>Replay capability</a:t>
            </a:r>
          </a:p>
          <a:p>
            <a:endParaRPr lang="en-IN" dirty="0"/>
          </a:p>
          <a:p>
            <a:r>
              <a:rPr lang="en-IN" b="1" dirty="0"/>
              <a:t>Why Spark Structured Streaming?</a:t>
            </a:r>
          </a:p>
          <a:p>
            <a:r>
              <a:rPr lang="en-IN" dirty="0"/>
              <a:t>Exactly-once semantics</a:t>
            </a:r>
          </a:p>
          <a:p>
            <a:r>
              <a:rPr lang="en-IN" dirty="0"/>
              <a:t>Windowed aggregations</a:t>
            </a:r>
          </a:p>
          <a:p>
            <a:r>
              <a:rPr lang="en-IN" dirty="0"/>
              <a:t>Native Kafka integration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2941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EED80-E6FC-47B2-A17B-6938BFB1A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Design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0F7B2-4553-AF90-950F-4DA82F9F0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AD96F8-7F11-91E2-9947-B95D89967AAD}"/>
              </a:ext>
            </a:extLst>
          </p:cNvPr>
          <p:cNvSpPr txBox="1"/>
          <p:nvPr/>
        </p:nvSpPr>
        <p:spPr>
          <a:xfrm>
            <a:off x="1165412" y="213855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Why </a:t>
            </a:r>
            <a:r>
              <a:rPr lang="en-IN" b="1" dirty="0" err="1"/>
              <a:t>InfluxDB</a:t>
            </a:r>
            <a:r>
              <a:rPr lang="en-IN" b="1" dirty="0"/>
              <a:t>?</a:t>
            </a:r>
          </a:p>
          <a:p>
            <a:r>
              <a:rPr lang="en-IN" dirty="0"/>
              <a:t>Optimized for time-series data</a:t>
            </a:r>
          </a:p>
          <a:p>
            <a:r>
              <a:rPr lang="en-IN" dirty="0"/>
              <a:t>Efficient aggregation queries</a:t>
            </a:r>
          </a:p>
          <a:p>
            <a:r>
              <a:rPr lang="en-IN" dirty="0"/>
              <a:t>Grafana native support</a:t>
            </a:r>
          </a:p>
        </p:txBody>
      </p:sp>
    </p:spTree>
    <p:extLst>
      <p:ext uri="{BB962C8B-B14F-4D97-AF65-F5344CB8AC3E}">
        <p14:creationId xmlns:p14="http://schemas.microsoft.com/office/powerpoint/2010/main" val="1115865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03248-87AE-11B6-A77C-2CE5C1542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Fault Tolerance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8790A-1BE3-F17E-625F-8BD38D142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Kafka</a:t>
            </a:r>
          </a:p>
          <a:p>
            <a:r>
              <a:rPr lang="en-IN" dirty="0"/>
              <a:t>Message durability</a:t>
            </a:r>
          </a:p>
          <a:p>
            <a:r>
              <a:rPr lang="en-IN" dirty="0"/>
              <a:t>Consumer offsets stored reliably</a:t>
            </a:r>
          </a:p>
          <a:p>
            <a:r>
              <a:rPr lang="en-IN" b="1" dirty="0"/>
              <a:t>Spark</a:t>
            </a:r>
          </a:p>
          <a:p>
            <a:r>
              <a:rPr lang="en-IN" b="1" dirty="0"/>
              <a:t>Checkpointing</a:t>
            </a:r>
            <a:r>
              <a:rPr lang="en-IN" dirty="0"/>
              <a:t> used for:</a:t>
            </a:r>
          </a:p>
          <a:p>
            <a:pPr lvl="1"/>
            <a:r>
              <a:rPr lang="en-IN" dirty="0"/>
              <a:t>Kafka offsets</a:t>
            </a:r>
          </a:p>
          <a:p>
            <a:pPr lvl="1"/>
            <a:r>
              <a:rPr lang="en-IN" dirty="0"/>
              <a:t>Streaming state</a:t>
            </a:r>
          </a:p>
          <a:p>
            <a:r>
              <a:rPr lang="en-IN" dirty="0"/>
              <a:t>Automatic recovery on failure</a:t>
            </a:r>
          </a:p>
          <a:p>
            <a:r>
              <a:rPr lang="en-IN" b="1" dirty="0"/>
              <a:t>HDFS</a:t>
            </a:r>
          </a:p>
          <a:p>
            <a:r>
              <a:rPr lang="en-IN" dirty="0"/>
              <a:t>Replicated storage for raw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2708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613BB-3E4A-06AE-630A-966A91A83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Infrastructure Configuration 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DECCEF8-7437-0732-5CD2-933493AB22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6591301"/>
              </p:ext>
            </p:extLst>
          </p:nvPr>
        </p:nvGraphicFramePr>
        <p:xfrm>
          <a:off x="1951355" y="2335325"/>
          <a:ext cx="6155055" cy="20046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95475">
                  <a:extLst>
                    <a:ext uri="{9D8B030D-6E8A-4147-A177-3AD203B41FA5}">
                      <a16:colId xmlns:a16="http://schemas.microsoft.com/office/drawing/2014/main" val="306809698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3496267865"/>
                    </a:ext>
                  </a:extLst>
                </a:gridCol>
                <a:gridCol w="2220595">
                  <a:extLst>
                    <a:ext uri="{9D8B030D-6E8A-4147-A177-3AD203B41FA5}">
                      <a16:colId xmlns:a16="http://schemas.microsoft.com/office/drawing/2014/main" val="3395743430"/>
                    </a:ext>
                  </a:extLst>
                </a:gridCol>
                <a:gridCol w="1292225">
                  <a:extLst>
                    <a:ext uri="{9D8B030D-6E8A-4147-A177-3AD203B41FA5}">
                      <a16:colId xmlns:a16="http://schemas.microsoft.com/office/drawing/2014/main" val="3584310166"/>
                    </a:ext>
                  </a:extLst>
                </a:gridCol>
              </a:tblGrid>
              <a:tr h="28829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>
                          <a:effectLst/>
                        </a:rPr>
                        <a:t>Component</a:t>
                      </a:r>
                      <a:endParaRPr lang="en-IN" sz="1100" kern="1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>
                          <a:effectLst/>
                        </a:rPr>
                        <a:t>Role</a:t>
                      </a:r>
                      <a:endParaRPr lang="en-IN" sz="1100" kern="1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>
                          <a:effectLst/>
                        </a:rPr>
                        <a:t>Host/IP:Port</a:t>
                      </a:r>
                      <a:endParaRPr lang="en-IN" sz="1100" kern="1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>
                          <a:effectLst/>
                        </a:rPr>
                        <a:t>Notes</a:t>
                      </a:r>
                      <a:endParaRPr lang="en-IN" sz="1100" kern="1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48983841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>
                          <a:effectLst/>
                        </a:rPr>
                        <a:t>HDFS NameNode</a:t>
                      </a:r>
                      <a:endParaRPr lang="en-IN" sz="1100" kern="1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>
                          <a:effectLst/>
                        </a:rPr>
                        <a:t>Master</a:t>
                      </a:r>
                      <a:endParaRPr lang="en-IN" sz="1100" kern="1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>
                          <a:effectLst/>
                        </a:rPr>
                        <a:t>10.0.0.5:9870</a:t>
                      </a:r>
                      <a:endParaRPr lang="en-IN" sz="1100" kern="1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>
                          <a:effectLst/>
                        </a:rPr>
                        <a:t>Master VM</a:t>
                      </a:r>
                      <a:endParaRPr lang="en-IN" sz="1100" kern="1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27023735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>
                          <a:effectLst/>
                        </a:rPr>
                        <a:t>HDFS DataNode</a:t>
                      </a:r>
                      <a:endParaRPr lang="en-IN" sz="1100" kern="1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>
                          <a:effectLst/>
                        </a:rPr>
                        <a:t>Worker</a:t>
                      </a:r>
                      <a:endParaRPr lang="en-IN" sz="1100" kern="1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>
                          <a:effectLst/>
                        </a:rPr>
                        <a:t>10.0.0.4:9864</a:t>
                      </a:r>
                      <a:endParaRPr lang="en-IN" sz="1100" kern="1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>
                          <a:effectLst/>
                        </a:rPr>
                        <a:t>Worker VM</a:t>
                      </a:r>
                      <a:endParaRPr lang="en-IN" sz="1100" kern="1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01109367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>
                          <a:effectLst/>
                        </a:rPr>
                        <a:t>Spark Master</a:t>
                      </a:r>
                      <a:endParaRPr lang="en-IN" sz="1100" kern="1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>
                          <a:effectLst/>
                        </a:rPr>
                        <a:t>Master</a:t>
                      </a:r>
                      <a:endParaRPr lang="en-IN" sz="1100" kern="1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>
                          <a:effectLst/>
                        </a:rPr>
                        <a:t>10.0.0.5:7077, UI: 8080</a:t>
                      </a:r>
                      <a:endParaRPr lang="en-IN" sz="1100" kern="1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>
                          <a:effectLst/>
                        </a:rPr>
                        <a:t>Running</a:t>
                      </a:r>
                      <a:endParaRPr lang="en-IN" sz="1100" kern="1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55886081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>
                          <a:effectLst/>
                        </a:rPr>
                        <a:t>Spark Worker</a:t>
                      </a:r>
                      <a:endParaRPr lang="en-IN" sz="1100" kern="1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>
                          <a:effectLst/>
                        </a:rPr>
                        <a:t>Worker</a:t>
                      </a:r>
                      <a:endParaRPr lang="en-IN" sz="1100" kern="1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>
                          <a:effectLst/>
                        </a:rPr>
                        <a:t>10.0.0.4</a:t>
                      </a:r>
                      <a:endParaRPr lang="en-IN" sz="1100" kern="1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>
                          <a:effectLst/>
                        </a:rPr>
                        <a:t>Running</a:t>
                      </a:r>
                      <a:endParaRPr lang="en-IN" sz="1100" kern="1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06474510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>
                          <a:effectLst/>
                        </a:rPr>
                        <a:t>Kafka Broker</a:t>
                      </a:r>
                      <a:endParaRPr lang="en-IN" sz="1100" kern="1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>
                          <a:effectLst/>
                        </a:rPr>
                        <a:t>Master</a:t>
                      </a:r>
                      <a:endParaRPr lang="en-IN" sz="1100" kern="1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>
                          <a:effectLst/>
                        </a:rPr>
                        <a:t>10.0.0.5:9092</a:t>
                      </a:r>
                      <a:endParaRPr lang="en-IN" sz="1100" kern="1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>
                          <a:effectLst/>
                        </a:rPr>
                        <a:t>Single broker</a:t>
                      </a:r>
                      <a:endParaRPr lang="en-IN" sz="1100" kern="1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78032851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>
                          <a:effectLst/>
                        </a:rPr>
                        <a:t>Topic: asteroid_raw</a:t>
                      </a:r>
                      <a:endParaRPr lang="en-IN" sz="1100" kern="1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>
                          <a:effectLst/>
                        </a:rPr>
                        <a:t>Kafka</a:t>
                      </a:r>
                      <a:endParaRPr lang="en-IN" sz="1100" kern="1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>
                          <a:effectLst/>
                        </a:rPr>
                        <a:t>master:9092</a:t>
                      </a:r>
                      <a:endParaRPr lang="en-IN" sz="1100" kern="1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50" dirty="0">
                          <a:effectLst/>
                        </a:rPr>
                        <a:t>Created</a:t>
                      </a:r>
                      <a:endParaRPr lang="en-IN" sz="1100" kern="1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3071438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5DD6962A-4715-7804-DD59-348DECA8A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97280" y="-51995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Show which VM is master, which is worker, and which service runs on each.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347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5F22D-BB56-24F3-29F3-56A195E9C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HDFS Directory Listing</a:t>
            </a:r>
            <a:br>
              <a:rPr lang="en-IN" dirty="0"/>
            </a:b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083292D-E34F-F26A-8E5B-E53E7C544B1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096963" y="3356454"/>
            <a:ext cx="10058400" cy="1002343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803788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032C0-2BC7-FAEC-F75B-1F9159E2E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Master </a:t>
            </a:r>
            <a:r>
              <a:rPr lang="en-IN" b="1" dirty="0" err="1"/>
              <a:t>jps</a:t>
            </a:r>
            <a:br>
              <a:rPr lang="en-IN" dirty="0"/>
            </a:b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15B57F-2B8E-D71D-A3D6-7F199E91D31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706512" y="2377999"/>
            <a:ext cx="6839301" cy="2959252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1523378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91447-DFC3-5D34-5FF6-E7AA6DD9F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Worker </a:t>
            </a:r>
            <a:r>
              <a:rPr lang="en-IN" b="1" dirty="0" err="1"/>
              <a:t>jps</a:t>
            </a:r>
            <a:br>
              <a:rPr lang="en-IN" dirty="0"/>
            </a:b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380BCA8-71BB-23D6-5AF7-66D70565031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826478" y="2390913"/>
            <a:ext cx="6788499" cy="1911448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1048866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08CAE-6B91-1B13-6283-D5700F7DA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Kafka Topic Created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12CD0E3-4F3D-62F2-3896-4C676D26992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096963" y="3256146"/>
            <a:ext cx="10058400" cy="1202958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1683668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F1F81-C4C9-DDCC-CD57-40BB9ECA6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Producer Running (Sending Messages)</a:t>
            </a:r>
            <a:br>
              <a:rPr lang="en-IN" dirty="0"/>
            </a:b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CC4002-4AF2-D89E-43EF-9EA5111ADD1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253977" y="2907850"/>
            <a:ext cx="5744371" cy="1899550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2518231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ADB9-75ED-C196-CB28-9E98E0F9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(Grafana)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9B167E2-58F5-C131-300C-8FD0F14231E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5854" y="1846263"/>
            <a:ext cx="8440618" cy="4022725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1629971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A9FFF0A-6B28-26D7-E2DB-E7A6D764FA5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5314" y="1855228"/>
            <a:ext cx="8100382" cy="4022725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246949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11AA57F-59D0-F137-AF8E-E3E5E0D76C5D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6903" y="1846263"/>
            <a:ext cx="7838519" cy="4022725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4195889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798347-97D9-2531-363A-6C277099400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4361" y="1846263"/>
            <a:ext cx="8383604" cy="4022725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1030339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384BE-B1E5-2CFF-FBA4-079ECBCDF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297FE-09C5-6E4C-65A5-50420024C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Kafka broker instability</a:t>
            </a:r>
          </a:p>
          <a:p>
            <a:r>
              <a:rPr lang="en-IN" dirty="0"/>
              <a:t>Spark master connection issues</a:t>
            </a:r>
          </a:p>
          <a:p>
            <a:r>
              <a:rPr lang="en-IN" dirty="0" err="1"/>
              <a:t>InfluxDB</a:t>
            </a:r>
            <a:r>
              <a:rPr lang="en-IN" dirty="0"/>
              <a:t> authentication (tokens)</a:t>
            </a:r>
          </a:p>
          <a:p>
            <a:r>
              <a:rPr lang="en-IN" dirty="0"/>
              <a:t>Streaming job restarts</a:t>
            </a:r>
          </a:p>
          <a:p>
            <a:r>
              <a:rPr lang="en-IN" dirty="0"/>
              <a:t>Schema mismatches</a:t>
            </a:r>
          </a:p>
          <a:p>
            <a:r>
              <a:rPr lang="en-IN" dirty="0"/>
              <a:t>Debugging distributed 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2148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C3A7E-8BAF-DE95-224B-EEC4FB43E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Lessons Learned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B19CD5-B3C2-C104-0C68-B4B3F3F49B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Importance of observability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 verification before UI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Streaming ≠ batch thinking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 mistakes propagate fast in pipelines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 environment configuration is critical</a:t>
            </a:r>
          </a:p>
        </p:txBody>
      </p:sp>
    </p:spTree>
    <p:extLst>
      <p:ext uri="{BB962C8B-B14F-4D97-AF65-F5344CB8AC3E}">
        <p14:creationId xmlns:p14="http://schemas.microsoft.com/office/powerpoint/2010/main" val="1693833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8BC27-7858-4130-CFE3-C14364EDD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F3DE13-BA4C-ED44-7A6E-8B9940438A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a fully working real-time analytics pipeline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Demonstrated scalability and fault tolerance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Applicable to real-world streaming use cases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foundation for production-grade systems</a:t>
            </a:r>
          </a:p>
        </p:txBody>
      </p:sp>
    </p:spTree>
    <p:extLst>
      <p:ext uri="{BB962C8B-B14F-4D97-AF65-F5344CB8AC3E}">
        <p14:creationId xmlns:p14="http://schemas.microsoft.com/office/powerpoint/2010/main" val="330174723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</TotalTime>
  <Words>383</Words>
  <Application>Microsoft Office PowerPoint</Application>
  <PresentationFormat>Widescreen</PresentationFormat>
  <Paragraphs>105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Retrospect</vt:lpstr>
      <vt:lpstr>Real-Time Asteroid Detection &amp; Analytics Pipeline</vt:lpstr>
      <vt:lpstr>Problem Statement</vt:lpstr>
      <vt:lpstr>High-Level Architecture </vt:lpstr>
      <vt:lpstr>Technologies Used</vt:lpstr>
      <vt:lpstr>Design Choices</vt:lpstr>
      <vt:lpstr>Design Choices</vt:lpstr>
      <vt:lpstr>Fault Tolerance</vt:lpstr>
      <vt:lpstr> Infrastructure Configuration </vt:lpstr>
      <vt:lpstr>HDFS Directory Listing </vt:lpstr>
      <vt:lpstr>Master jps </vt:lpstr>
      <vt:lpstr>Worker jps </vt:lpstr>
      <vt:lpstr>Kafka Topic Created</vt:lpstr>
      <vt:lpstr>Producer Running (Sending Messages) </vt:lpstr>
      <vt:lpstr>Dashboard (Grafana)</vt:lpstr>
      <vt:lpstr>PowerPoint Presentation</vt:lpstr>
      <vt:lpstr>PowerPoint Presentation</vt:lpstr>
      <vt:lpstr>PowerPoint Presentation</vt:lpstr>
      <vt:lpstr>Challenges Faced</vt:lpstr>
      <vt:lpstr>Lessons Learned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 Muralikrishnan</dc:creator>
  <cp:lastModifiedBy>Vishnu Muralikrishnan</cp:lastModifiedBy>
  <cp:revision>2</cp:revision>
  <dcterms:created xsi:type="dcterms:W3CDTF">2026-01-20T15:32:19Z</dcterms:created>
  <dcterms:modified xsi:type="dcterms:W3CDTF">2026-01-20T15:45:31Z</dcterms:modified>
</cp:coreProperties>
</file>